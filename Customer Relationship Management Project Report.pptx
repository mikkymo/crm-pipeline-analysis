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sldIdLst>
    <p:sldId id="256" r:id="rId2"/>
    <p:sldId id="259" r:id="rId3"/>
    <p:sldId id="258" r:id="rId4"/>
    <p:sldId id="266" r:id="rId5"/>
    <p:sldId id="257" r:id="rId6"/>
    <p:sldId id="265" r:id="rId7"/>
    <p:sldId id="260" r:id="rId8"/>
    <p:sldId id="262" r:id="rId9"/>
    <p:sldId id="264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88" d="100"/>
          <a:sy n="88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37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50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14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35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09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38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24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8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32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708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14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1490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06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594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66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EE707-1945-4A8F-8B90-FBE476EBA3F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2792D8C-FCF9-4729-97EF-E6D1AD1F48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33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BB15-7957-2527-6C62-6DCAD69DF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Customer Relationship Management Project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026CB-86E4-25DF-D460-CB0775ED2A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/>
              <a:t>Presented By </a:t>
            </a:r>
          </a:p>
          <a:p>
            <a:r>
              <a:rPr lang="en-GB" b="1" dirty="0"/>
              <a:t>OGO CHUKWUEMEKA OKEREKE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212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01D4C-6C22-2CEF-E280-DF2452010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35"/>
            <a:ext cx="12192000" cy="678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26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83FB-9364-ADBD-60FA-B0375659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Problem Statement (Strategy-Focused)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3EEA-F023-385F-2CDE-7E864F1B9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322942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organization needs a 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data-driven view 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its sales pipeline and customer base to 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revenue drivers, 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uncover 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pipeline inefficiencies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and manage 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and sector concentration risk 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order to support informed strategic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57934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DDC9-2DDF-2C69-D85B-A3FB3ACFB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609600"/>
            <a:ext cx="8827688" cy="859971"/>
          </a:xfrm>
        </p:spPr>
        <p:txBody>
          <a:bodyPr/>
          <a:lstStyle/>
          <a:p>
            <a:r>
              <a:rPr lang="en-GB" dirty="0"/>
              <a:t>Data Origin, Cleaning And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48F77-B8A7-AA3F-3D64-BE0295093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24" y="1572761"/>
            <a:ext cx="8596668" cy="46756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The dataset for this project was obtained from the Maven Analytics Website.</a:t>
            </a:r>
          </a:p>
          <a:p>
            <a:pPr marL="0" indent="0">
              <a:buNone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It contains 8,800 rows of data spread across 4 tables which are:</a:t>
            </a:r>
          </a:p>
          <a:p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Fact-Sales-Pipeline Table</a:t>
            </a:r>
          </a:p>
          <a:p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Product Table</a:t>
            </a:r>
          </a:p>
          <a:p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Sales Team Table</a:t>
            </a:r>
          </a:p>
          <a:p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Account Table.</a:t>
            </a:r>
          </a:p>
          <a:p>
            <a:pPr marL="0" indent="0">
              <a:buNone/>
            </a:pP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The data was cleaned, transformed and loaded through Power Query into Power BI for analysis. </a:t>
            </a:r>
          </a:p>
        </p:txBody>
      </p:sp>
    </p:spTree>
    <p:extLst>
      <p:ext uri="{BB962C8B-B14F-4D97-AF65-F5344CB8AC3E}">
        <p14:creationId xmlns:p14="http://schemas.microsoft.com/office/powerpoint/2010/main" val="2761854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4330-5CD6-ED80-2190-9DD37344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CF63-DF57-256E-67B3-6CECF2E1E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63" y="1930400"/>
            <a:ext cx="8596668" cy="431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project is aimed at providing answers to 3 critical business questions which are:</a:t>
            </a:r>
          </a:p>
          <a:p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“What is driving 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performance across the business?”</a:t>
            </a:r>
          </a:p>
          <a:p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“Where and why are sales 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opportunities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being delayed or lost?”</a:t>
            </a:r>
          </a:p>
          <a:p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“Who is generating the most 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value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and where is customer</a:t>
            </a:r>
            <a:r>
              <a:rPr lang="en-GB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risk </a:t>
            </a: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emerging?”</a:t>
            </a:r>
          </a:p>
        </p:txBody>
      </p:sp>
    </p:spTree>
    <p:extLst>
      <p:ext uri="{BB962C8B-B14F-4D97-AF65-F5344CB8AC3E}">
        <p14:creationId xmlns:p14="http://schemas.microsoft.com/office/powerpoint/2010/main" val="3101606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A424-8109-0822-CF52-FEABD10B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818" y="129893"/>
            <a:ext cx="8975952" cy="622462"/>
          </a:xfrm>
        </p:spPr>
        <p:txBody>
          <a:bodyPr>
            <a:normAutofit fontScale="90000"/>
          </a:bodyPr>
          <a:lstStyle/>
          <a:p>
            <a:r>
              <a:rPr lang="en-GB" dirty="0"/>
              <a:t>Key Performance Indicators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6A047-CF2B-9D67-AC47-2E40C7753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818" y="995423"/>
            <a:ext cx="8975952" cy="55905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Revenue </a:t>
            </a: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provides an immediate view of </a:t>
            </a:r>
            <a:r>
              <a:rPr lang="en-GB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overall business performance</a:t>
            </a: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but its concentration among a small set of customers signals growth vulnerability if key accounts are lost.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GB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 rate </a:t>
            </a: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highlights how </a:t>
            </a:r>
            <a:r>
              <a:rPr lang="en-GB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efficiently </a:t>
            </a: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sales pipeline converts </a:t>
            </a:r>
            <a:r>
              <a:rPr lang="en-GB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opportunities</a:t>
            </a: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into revenue, making it a direct indicator of sales effectiveness and process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high revenue share from the </a:t>
            </a:r>
            <a:r>
              <a:rPr lang="en-GB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customers </a:t>
            </a: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indicates strong </a:t>
            </a:r>
            <a:r>
              <a:rPr lang="en-GB" sz="2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key-account performance </a:t>
            </a:r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exposes the business to concentration and churn risk.</a:t>
            </a:r>
          </a:p>
        </p:txBody>
      </p:sp>
    </p:spTree>
    <p:extLst>
      <p:ext uri="{BB962C8B-B14F-4D97-AF65-F5344CB8AC3E}">
        <p14:creationId xmlns:p14="http://schemas.microsoft.com/office/powerpoint/2010/main" val="54173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BF8EE-DF95-1838-F993-C5194C6F2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27421"/>
            <a:ext cx="8596667" cy="566738"/>
          </a:xfrm>
        </p:spPr>
        <p:txBody>
          <a:bodyPr/>
          <a:lstStyle/>
          <a:p>
            <a:r>
              <a:rPr lang="en-GB" dirty="0"/>
              <a:t>Top Sectors Drive an Unequal Share of the Revenue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7E070-853D-6AAE-2E15-8DEAD8F7D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8437" y="5232415"/>
            <a:ext cx="8596667" cy="1314792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performance is uneven across sectors, with a small number of sectors contributing a large share of total revenue.</a:t>
            </a:r>
          </a:p>
        </p:txBody>
      </p:sp>
      <p:pic>
        <p:nvPicPr>
          <p:cNvPr id="14" name="Picture Placeholder 13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EBD7F7AF-0F34-6E6F-F9AF-83E2A9E35F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6" b="8276"/>
          <a:stretch>
            <a:fillRect/>
          </a:stretch>
        </p:blipFill>
        <p:spPr>
          <a:xfrm>
            <a:off x="677863" y="968189"/>
            <a:ext cx="8596312" cy="4066797"/>
          </a:xfrm>
        </p:spPr>
      </p:pic>
    </p:spTree>
    <p:extLst>
      <p:ext uri="{BB962C8B-B14F-4D97-AF65-F5344CB8AC3E}">
        <p14:creationId xmlns:p14="http://schemas.microsoft.com/office/powerpoint/2010/main" val="268162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5F0F-CC67-9B63-A824-5B9540EF4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93020"/>
            <a:ext cx="8596667" cy="566738"/>
          </a:xfrm>
        </p:spPr>
        <p:txBody>
          <a:bodyPr/>
          <a:lstStyle/>
          <a:p>
            <a:r>
              <a:rPr lang="en-GB" dirty="0"/>
              <a:t>Over 35% of Pipeline Deal Values is Aged Above 60 Days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ABFFD4A-F107-DFED-82BF-2A6E6DEF078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7" b="3847"/>
          <a:stretch>
            <a:fillRect/>
          </a:stretch>
        </p:blipFill>
        <p:spPr>
          <a:xfrm>
            <a:off x="677332" y="816638"/>
            <a:ext cx="8596668" cy="393445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BBC55-6F4C-D99A-030A-F9C08BA0D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2" y="5020097"/>
            <a:ext cx="8596667" cy="1183933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significant share of pipeline value is locked in deals aged over 60 days, indicating potential revenue delay and conversion risk.</a:t>
            </a:r>
          </a:p>
        </p:txBody>
      </p:sp>
    </p:spTree>
    <p:extLst>
      <p:ext uri="{BB962C8B-B14F-4D97-AF65-F5344CB8AC3E}">
        <p14:creationId xmlns:p14="http://schemas.microsoft.com/office/powerpoint/2010/main" val="3023705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F6EA-B1DD-919A-2C43-92468553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33269"/>
            <a:ext cx="8596667" cy="566738"/>
          </a:xfrm>
        </p:spPr>
        <p:txBody>
          <a:bodyPr/>
          <a:lstStyle/>
          <a:p>
            <a:r>
              <a:rPr lang="en-GB" dirty="0"/>
              <a:t>Revenue Is Concentrated Among Key Customers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5015C49-7C8E-1F38-786B-2DC16D08444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9" b="6739"/>
          <a:stretch>
            <a:fillRect/>
          </a:stretch>
        </p:blipFill>
        <p:spPr>
          <a:xfrm>
            <a:off x="677688" y="1311209"/>
            <a:ext cx="8596312" cy="38449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B6BF6-2CA1-AD26-D2A4-179EAD040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367337"/>
            <a:ext cx="8596667" cy="1149209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revenue is highly concentrated, making churn among top customers a critical business risk.</a:t>
            </a:r>
          </a:p>
        </p:txBody>
      </p:sp>
    </p:spTree>
    <p:extLst>
      <p:ext uri="{BB962C8B-B14F-4D97-AF65-F5344CB8AC3E}">
        <p14:creationId xmlns:p14="http://schemas.microsoft.com/office/powerpoint/2010/main" val="173798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E291A-3C9B-DA61-8B80-2C777462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762000"/>
          </a:xfrm>
        </p:spPr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F2D3C-DFC1-BA0C-53B6-A83560A29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686" y="1502229"/>
            <a:ext cx="8958317" cy="453913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Focus growth and sales efforts on the highest-performing sectors while monitoring revenue concentration to manage risk.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Actively review and escalate deals aged beyond 60 days to reduce pipeline delays and improve conversion.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Protect top revenue-generating customers while developing mid-tier accounts to reduce customer concentration risk.</a:t>
            </a:r>
          </a:p>
        </p:txBody>
      </p:sp>
    </p:spTree>
    <p:extLst>
      <p:ext uri="{BB962C8B-B14F-4D97-AF65-F5344CB8AC3E}">
        <p14:creationId xmlns:p14="http://schemas.microsoft.com/office/powerpoint/2010/main" val="8221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46C6-A0D1-D0F0-13B6-58CCBC58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678" y="87085"/>
            <a:ext cx="8596668" cy="925286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426BE-C255-402B-79B1-87848A40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030" y="1436915"/>
            <a:ext cx="9535884" cy="4212772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In conclusion, by prioritizing </a:t>
            </a:r>
            <a:r>
              <a:rPr lang="en-GB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high-performing sectors</a:t>
            </a: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, addressing </a:t>
            </a:r>
            <a:r>
              <a:rPr lang="en-GB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pipeline bottlenecks</a:t>
            </a:r>
            <a: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  <a:t>, and balancing customer portfolio development, the business can drive </a:t>
            </a:r>
            <a:r>
              <a:rPr lang="en-GB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sustainable growth, improve conversion efficiency, and reduce revenue concentration risk.</a:t>
            </a:r>
          </a:p>
        </p:txBody>
      </p:sp>
    </p:spTree>
    <p:extLst>
      <p:ext uri="{BB962C8B-B14F-4D97-AF65-F5344CB8AC3E}">
        <p14:creationId xmlns:p14="http://schemas.microsoft.com/office/powerpoint/2010/main" val="39967667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</TotalTime>
  <Words>419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Segoe UI</vt:lpstr>
      <vt:lpstr>Trebuchet MS</vt:lpstr>
      <vt:lpstr>Wingdings</vt:lpstr>
      <vt:lpstr>Wingdings 3</vt:lpstr>
      <vt:lpstr>Facet</vt:lpstr>
      <vt:lpstr>Customer Relationship Management Project Report</vt:lpstr>
      <vt:lpstr>PowerPoint Presentation</vt:lpstr>
      <vt:lpstr>Problem Statement (Strategy-Focused)</vt:lpstr>
      <vt:lpstr>Data Origin, Cleaning And Transformation</vt:lpstr>
      <vt:lpstr>Key Project Objectives</vt:lpstr>
      <vt:lpstr>Key Performance Indicators</vt:lpstr>
      <vt:lpstr>Top Sectors Drive an Unequal Share of the Revenue</vt:lpstr>
      <vt:lpstr>Over 35% of Pipeline Deal Values is Aged Above 60 Days</vt:lpstr>
      <vt:lpstr>Revenue Is Concentrated Among Key Customers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CHUKWUEMEKA OGO</dc:creator>
  <cp:lastModifiedBy>CHUKWUEMEKA OGO</cp:lastModifiedBy>
  <cp:revision>1</cp:revision>
  <dcterms:created xsi:type="dcterms:W3CDTF">2025-12-16T17:58:21Z</dcterms:created>
  <dcterms:modified xsi:type="dcterms:W3CDTF">2025-12-16T20:52:51Z</dcterms:modified>
</cp:coreProperties>
</file>